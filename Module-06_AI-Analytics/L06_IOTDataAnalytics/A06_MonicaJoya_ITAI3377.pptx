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497A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7B2D5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3474720"/>
            <a:ext cx="1828800" cy="1828800"/>
          </a:xfrm>
          <a:prstGeom prst="ellipse">
            <a:avLst/>
          </a:prstGeom>
          <a:solidFill>
            <a:srgbClr val="D4497A">
              <a:alpha val="2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315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5448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IIoT Time Series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Forecasting Lab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Data Analytics with Nixtla AutoML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3931920"/>
            <a:ext cx="4572000" cy="36576"/>
          </a:xfrm>
          <a:prstGeom prst="rect">
            <a:avLst/>
          </a:prstGeom>
          <a:solidFill>
            <a:srgbClr val="D4497A">
              <a:alpha val="6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Monica Joya  |  ITAI 3377  |  Professor Ayyagari  |  Houston City College  | 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63040" cy="320040"/>
          </a:xfrm>
          <a:prstGeom prst="rect">
            <a:avLst>
              <a:gd name="adj" fmla="val 14286"/>
            </a:avLst>
          </a:prstGeom>
          <a:solidFill>
            <a:srgbClr val="D4497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and Problem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uses IoT sensor temperature data from Kaggle to build a forecasting pipeline. The goal is to predict future temperature readings using automated machine learning.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0" y="1645920"/>
            <a:ext cx="29260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0" y="1645920"/>
            <a:ext cx="73152" cy="777240"/>
          </a:xfrm>
          <a:prstGeom prst="rect">
            <a:avLst/>
          </a:prstGeom>
          <a:solidFill>
            <a:srgbClr val="D4497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4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97,606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sensor readings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2606040"/>
            <a:ext cx="29260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0" y="2606040"/>
            <a:ext cx="73152" cy="777240"/>
          </a:xfrm>
          <a:prstGeom prst="rect">
            <a:avLst/>
          </a:prstGeom>
          <a:solidFill>
            <a:srgbClr val="D4497A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4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0" y="3017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observations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3566160"/>
            <a:ext cx="29260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0" y="3566160"/>
            <a:ext cx="73152" cy="777240"/>
          </a:xfrm>
          <a:prstGeom prst="rect">
            <a:avLst/>
          </a:prstGeom>
          <a:solidFill>
            <a:srgbClr val="D4497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4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Jul-Dec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94360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time range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011680" cy="320040"/>
          </a:xfrm>
          <a:prstGeom prst="rect">
            <a:avLst/>
          </a:prstGeom>
          <a:solidFill>
            <a:srgbClr val="D4497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749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3749040" cy="54864"/>
          </a:xfrm>
          <a:prstGeom prst="rect">
            <a:avLst/>
          </a:prstGeom>
          <a:solidFill>
            <a:srgbClr val="D4497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Aggregation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Minute-level data resampled to daily averages for a cleaner forecasting signal.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691640"/>
            <a:ext cx="3749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691640"/>
            <a:ext cx="3749040" cy="54864"/>
          </a:xfrm>
          <a:prstGeom prst="rect">
            <a:avLst/>
          </a:prstGeom>
          <a:solidFill>
            <a:srgbClr val="D4497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2194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missing daily values filled using time-based interpolation with forward/backward fill.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3749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108960"/>
            <a:ext cx="3749040" cy="54864"/>
          </a:xfrm>
          <a:prstGeom prst="rect">
            <a:avLst/>
          </a:prstGeom>
          <a:solidFill>
            <a:srgbClr val="D4497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291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Outlier Check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3611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rule applied to daily values. No outliers were flagged in the aggregated series.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37490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108960"/>
            <a:ext cx="3749040" cy="54864"/>
          </a:xfrm>
          <a:prstGeom prst="rect">
            <a:avLst/>
          </a:prstGeom>
          <a:solidFill>
            <a:srgbClr val="D4497A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291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Train/Test Split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37760" y="3611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split: training through Nov 12, 2018 and testing from Nov 13 to Dec 8.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was not required for the forecasting models (linear regression and random forest) but was applied to the VAE inputs.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560320" cy="320040"/>
          </a:xfrm>
          <a:prstGeom prst="rect">
            <a:avLst/>
          </a:prstGeom>
          <a:solidFill>
            <a:srgbClr val="D4497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&amp; TRAINING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Nixtla AutoML Approach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4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AutoML?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Nixtla AutoMLForecast automates the model search, reducing manual tuning while keeping the selection process data-driven. Two model families were compared: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20640" y="1645920"/>
            <a:ext cx="34747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0" y="1645920"/>
            <a:ext cx="3474720" cy="502920"/>
          </a:xfrm>
          <a:prstGeom prst="rect">
            <a:avLst/>
          </a:prstGeom>
          <a:solidFill>
            <a:srgbClr val="2D1B2E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6459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0" y="22860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4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D44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0" y="32918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by Optuna-guided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minimizing MAE across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rolling-origin windows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Configuration: lag options (1, 7, 14 days)  |  rolling mean transform  |  day-of-week feature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108960" cy="320040"/>
          </a:xfrm>
          <a:prstGeom prst="rect">
            <a:avLst/>
          </a:prstGeom>
          <a:solidFill>
            <a:srgbClr val="D4497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Features and Model Performance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749040" cy="914400"/>
          </a:xfrm>
          <a:prstGeom prst="rect">
            <a:avLst/>
          </a:prstGeom>
          <a:solidFill>
            <a:srgbClr val="FAE8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73152" cy="914400"/>
          </a:xfrm>
          <a:prstGeom prst="rect">
            <a:avLst/>
          </a:prstGeom>
          <a:solidFill>
            <a:srgbClr val="D4497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Rolling Mean (7-day)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 sensor noise from warm-up spikes and environmental interference.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645920"/>
            <a:ext cx="3749040" cy="914400"/>
          </a:xfrm>
          <a:prstGeom prst="rect">
            <a:avLst/>
          </a:prstGeom>
          <a:solidFill>
            <a:srgbClr val="FAE8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645920"/>
            <a:ext cx="73152" cy="914400"/>
          </a:xfrm>
          <a:prstGeom prst="rect">
            <a:avLst/>
          </a:prstGeom>
          <a:solidFill>
            <a:srgbClr val="D4497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of Week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weekly cycles from HVAC schedules and occupancy patterns.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Results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45720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2.1986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1.7167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8.3197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4.2151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8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3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1.7192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D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4864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3-window rolling-origin cross-validation with 7-day horizon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20040"/>
          </a:xfrm>
          <a:prstGeom prst="rect">
            <a:avLst/>
          </a:prstGeom>
          <a:solidFill>
            <a:srgbClr val="D4497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VAE-Based Data Augmentation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554480" y="1645920"/>
            <a:ext cx="457200" cy="457200"/>
          </a:xfrm>
          <a:prstGeom prst="ellipse">
            <a:avLst/>
          </a:prstGeom>
          <a:solidFill>
            <a:srgbClr val="D4497A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VAE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sliding windows, 2D latent space, 20 epochs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457200" cy="457200"/>
          </a:xfrm>
          <a:prstGeom prst="ellipse">
            <a:avLst/>
          </a:prstGeom>
          <a:solidFill>
            <a:srgbClr val="D4497A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383280" y="228600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6616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66160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synthetic temperature points from latent samples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23760" y="1645920"/>
            <a:ext cx="457200" cy="457200"/>
          </a:xfrm>
          <a:prstGeom prst="ellipse">
            <a:avLst/>
          </a:prstGeom>
          <a:solidFill>
            <a:srgbClr val="D4497A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17920" y="228600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2697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Prepend synthetic data before training history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on Forecasting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37490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389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2.1986   MSE: 8.3197   MASE: 2.2018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4023360"/>
            <a:ext cx="3749040" cy="822960"/>
          </a:xfrm>
          <a:prstGeom prst="rect">
            <a:avLst/>
          </a:prstGeom>
          <a:solidFill>
            <a:srgbClr val="FAE8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4023360"/>
            <a:ext cx="73152" cy="822960"/>
          </a:xfrm>
          <a:prstGeom prst="rect">
            <a:avLst/>
          </a:prstGeom>
          <a:solidFill>
            <a:srgbClr val="D4497A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4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4389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2.0303   MSE: 7.0141   MASE: 2.1196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497A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7B2D5F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 &amp; Recommendations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261872"/>
            <a:ext cx="164592" cy="164592"/>
          </a:xfrm>
          <a:prstGeom prst="ellipse">
            <a:avLst/>
          </a:prstGeom>
          <a:solidFill>
            <a:srgbClr val="D4497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D0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Chronological integrity matters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splitting and cross-validation prevented data leakage and gave honest performance estimates.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76272"/>
            <a:ext cx="164592" cy="164592"/>
          </a:xfrm>
          <a:prstGeom prst="ellipse">
            <a:avLst/>
          </a:prstGeom>
          <a:solidFill>
            <a:srgbClr val="D4497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D0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models can be effective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outperformed random forest, showing that a well-structured feature set can carry simple models.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90672"/>
            <a:ext cx="164592" cy="164592"/>
          </a:xfrm>
          <a:prstGeom prst="ellipse">
            <a:avLst/>
          </a:prstGeom>
          <a:solidFill>
            <a:srgbClr val="D4497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017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D0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IIoT domain features add value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mean and day-of-week features, grounded in real sensor and operational patterns, improved forecast stability.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005072"/>
            <a:ext cx="164592" cy="164592"/>
          </a:xfrm>
          <a:prstGeom prst="ellipse">
            <a:avLst/>
          </a:prstGeom>
          <a:solidFill>
            <a:srgbClr val="D4497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D0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VAE augmentation shows promise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251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28 synthetic points improved all three metrics. Larger-scale generation could amplify the gains.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617720"/>
            <a:ext cx="7772400" cy="36576"/>
          </a:xfrm>
          <a:prstGeom prst="rect">
            <a:avLst/>
          </a:prstGeom>
          <a:solidFill>
            <a:srgbClr val="D4497A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709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expand to gradient-boosted models, add external weather data, scale VAE generation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A06 IIoT Time Series Forecasting</dc:title>
  <dc:subject>PptxGenJS Presentation</dc:subject>
  <dc:creator>Monica Joya</dc:creator>
  <cp:lastModifiedBy>Monica Joya</cp:lastModifiedBy>
  <cp:revision>1</cp:revision>
  <dcterms:created xsi:type="dcterms:W3CDTF">2026-03-25T17:48:11Z</dcterms:created>
  <dcterms:modified xsi:type="dcterms:W3CDTF">2026-03-25T17:48:11Z</dcterms:modified>
</cp:coreProperties>
</file>